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7.png"/><Relationship Id="rId9" Type="http://schemas.openxmlformats.org/officeDocument/2006/relationships/image" Target="../media/image-6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43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1757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69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Manager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Simulation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Job Simulation Experience Report — Powered by Forage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6675120" cy="1554480"/>
          </a:xfrm>
          <a:prstGeom prst="roundRect">
            <a:avLst>
              <a:gd name="adj" fmla="val 4706"/>
            </a:avLst>
          </a:prstGeom>
          <a:solidFill>
            <a:srgbClr val="14143C"/>
          </a:solidFill>
          <a:ln w="12700">
            <a:solidFill>
              <a:srgbClr val="2A2A55"/>
            </a:solidFill>
            <a:prstDash val="solid"/>
          </a:ln>
        </p:spPr>
      </p:sp>
      <p:pic>
        <p:nvPicPr>
          <p:cNvPr id="9" name="Image 0" descr="/home/claude/work/icons/idcard_0099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77316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63040" y="5074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Computer Science &amp; Engineering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63040" y="53583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25SCS1003004134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63040" y="5623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Uttar Pradesh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46634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/home/claude/work/iilm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4727448"/>
            <a:ext cx="365760" cy="3904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" y="62636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·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Program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6" name="Image 0" descr="/home/claude/work/icons/us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20333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600" dirty="0"/>
          </a:p>
        </p:txBody>
      </p:sp>
      <p:pic>
        <p:nvPicPr>
          <p:cNvPr id="8" name="Image 1" descr="/home/claude/work/iilm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856232"/>
            <a:ext cx="384048" cy="4096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6517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68680" y="28986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68680" y="331927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68680" y="35661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25SCS1003004134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68680" y="398678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Programme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4233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&amp; Engineering)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68680" y="465429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68680" y="490118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868680" y="532180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68680" y="55686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172200" y="1600200"/>
            <a:ext cx="5468112" cy="4434840"/>
          </a:xfrm>
          <a:prstGeom prst="roundRect">
            <a:avLst>
              <a:gd name="adj" fmla="val 164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0B0B2E"/>
          </a:solidFill>
          <a:ln/>
        </p:spPr>
      </p:sp>
      <p:pic>
        <p:nvPicPr>
          <p:cNvPr id="21" name="Image 2" descr="/home/claude/work/icons/briefc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397" y="2033397"/>
            <a:ext cx="276606" cy="27660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3232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Profile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92240" y="265176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Name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92240" y="2898648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492240" y="3319272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Platform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492240" y="3566160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Virtual Experience Program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492240" y="398678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Sponsoring Organization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92240" y="4233672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6492240" y="465429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Duration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492240" y="490118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Self-paced, approx. 1–2 hours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6492240" y="5321808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492240" y="5568696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20, 2026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Siemens Mobility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is a leading provider of transport solutions, focused on sustainable and efficient mobility across the entire ecosystem of rail and road transportation.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7" name="Image 0" descr="/home/claude/work/icons/handshak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8106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7157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Partnership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Forage's virtual experience platform, letting students practice authentic workplace tasks risk-free.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24231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697480"/>
            <a:ext cx="502920" cy="50292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12" name="Image 1" descr="/home/claude/work/icons/t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17" y="28106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7157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&amp; Road Ecosystem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3796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Offerings span infrastructure, rolling stock, rail electrification, signaling &amp; control, and intelligent traffic systems.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4805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17" name="Image 2" descr="/home/claude/work/icons/glob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48680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7731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Industry Reach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960" y="5257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transport authorities and industry stakeholders worldwide to modernize mobility infrastructure.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4805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754880"/>
            <a:ext cx="502920" cy="50292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22" name="Image 3" descr="/home/claude/work/icons/targ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17" y="486803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7731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Areas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37960" y="5257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infrastructure project management, KPI strategy design, and data-driven dashboard reporting.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Scenario Context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B0B2E"/>
          </a:solidFill>
          <a:ln/>
        </p:spPr>
      </p:sp>
      <p:pic>
        <p:nvPicPr>
          <p:cNvPr id="6" name="Image 0" descr="/home/claude/work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Challenge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infrastructure programmes involve many stakeholders and moving parts. Without clear, measurable indicators, it becomes difficult to track progress in safety, efficiency, and sustainability — or to communicate that progress convincingly to decision-makers.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920240"/>
            <a:ext cx="548640" cy="54864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11" name="Image 1" descr="/home/claude/work/icons/bulb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2043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84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Scope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69748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 the shoes of a project team member on Siemens Mobility's Metroville rail expansion project — developing KPIs from the ground up, then turning raw project updates into a clear, stakeholder-ready dashboard.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Simulation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B0B2E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work/icons/chart_0b0b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25" y="22117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Developing KPIs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74904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7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key performance indicators aligned to project objectives in safety, efficiency, and sustainability. Set measurable targets and outline a strategy for ongoing monitoring.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09999"/>
          </a:solidFill>
          <a:ln/>
        </p:spPr>
      </p:sp>
      <p:sp>
        <p:nvSpPr>
          <p:cNvPr id="10" name="Shape 7"/>
          <p:cNvSpPr/>
          <p:nvPr/>
        </p:nvSpPr>
        <p:spPr>
          <a:xfrm>
            <a:off x="6720840" y="20574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work/icons/dashboard_00999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145" y="221170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29718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Managing Project Dashboards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20840" y="374904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7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provided project data, summarize key progress and challenges, and visually present updates for clear, effective stakeholder communication.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Competencies Applied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594360" cy="594360"/>
          </a:xfrm>
          <a:prstGeom prst="ellipse">
            <a:avLst/>
          </a:prstGeom>
          <a:solidFill>
            <a:srgbClr val="0B0B2E"/>
          </a:solidFill>
          <a:ln/>
        </p:spPr>
      </p:sp>
      <p:pic>
        <p:nvPicPr>
          <p:cNvPr id="6" name="Image 0" descr="/home/claude/work/icons/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14541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Strategy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926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/home/claude/work/icons/check_0b0b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953512"/>
            <a:ext cx="310896" cy="310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2926080"/>
            <a:ext cx="365760" cy="365760"/>
          </a:xfrm>
          <a:prstGeom prst="ellipse">
            <a:avLst/>
          </a:prstGeom>
          <a:ln w="15875">
            <a:solidFill>
              <a:srgbClr val="0B0B2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463040" y="29077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14400" y="36118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/home/claude/work/icons/check_0b0b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639312"/>
            <a:ext cx="310896" cy="31089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4400" y="3611880"/>
            <a:ext cx="365760" cy="365760"/>
          </a:xfrm>
          <a:prstGeom prst="ellipse">
            <a:avLst/>
          </a:prstGeom>
          <a:ln w="15875">
            <a:solidFill>
              <a:srgbClr val="0B0B2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463040" y="35935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Planning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work/icons/check_0b0b2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325112"/>
            <a:ext cx="310896" cy="31089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ln w="15875">
            <a:solidFill>
              <a:srgbClr val="0B0B2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463040" y="42793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Design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14400" y="4983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/home/claude/work/icons/check_0b0b2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010912"/>
            <a:ext cx="310896" cy="31089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14400" y="4983480"/>
            <a:ext cx="365760" cy="365760"/>
          </a:xfrm>
          <a:prstGeom prst="ellipse">
            <a:avLst/>
          </a:prstGeom>
          <a:ln w="15875">
            <a:solidFill>
              <a:srgbClr val="0B0B2E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463040" y="49651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Communication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30936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675120" y="2011680"/>
            <a:ext cx="594360" cy="59436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26" name="Image 5" descr="/home/claude/work/icons/databas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8851" y="2145411"/>
            <a:ext cx="326898" cy="32689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52360" y="2103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Management</a:t>
            </a:r>
            <a:endParaRPr lang="en-US" sz="1700" dirty="0"/>
          </a:p>
        </p:txBody>
      </p:sp>
      <p:sp>
        <p:nvSpPr>
          <p:cNvPr id="28" name="Shape 20"/>
          <p:cNvSpPr/>
          <p:nvPr/>
        </p:nvSpPr>
        <p:spPr>
          <a:xfrm>
            <a:off x="6675120" y="2926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6" descr="/home/claude/work/icons/check_00999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2953512"/>
            <a:ext cx="310896" cy="310896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675120" y="2926080"/>
            <a:ext cx="365760" cy="365760"/>
          </a:xfrm>
          <a:prstGeom prst="ellipse">
            <a:avLst/>
          </a:prstGeom>
          <a:ln w="15875">
            <a:solidFill>
              <a:srgbClr val="009999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7223760" y="29077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675120" y="36118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7" descr="/home/claude/work/icons/check_00999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2552" y="3639312"/>
            <a:ext cx="310896" cy="310896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675120" y="3611880"/>
            <a:ext cx="365760" cy="365760"/>
          </a:xfrm>
          <a:prstGeom prst="ellipse">
            <a:avLst/>
          </a:prstGeom>
          <a:ln w="15875">
            <a:solidFill>
              <a:srgbClr val="009999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7223760" y="35935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Operations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6675120" y="42976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8" descr="/home/claude/work/icons/check_00999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2552" y="4325112"/>
            <a:ext cx="310896" cy="310896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6675120" y="4297680"/>
            <a:ext cx="365760" cy="365760"/>
          </a:xfrm>
          <a:prstGeom prst="ellipse">
            <a:avLst/>
          </a:prstGeom>
          <a:ln w="15875">
            <a:solidFill>
              <a:srgbClr val="009999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7223760" y="42793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</a:t>
            </a:r>
            <a:endParaRPr lang="en-US" sz="1400" dirty="0"/>
          </a:p>
        </p:txBody>
      </p:sp>
      <p:sp>
        <p:nvSpPr>
          <p:cNvPr id="40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Developing Key Performance Indicators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6" name="Image 0" descr="/home/claude/work/icon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9876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KPIs to Objectives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KPIs around the project's core objectives — safety, efficiency, and sustainability — for the rail expansion programme.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11" name="Image 1" descr="/home/claude/work/icons/gaug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837" y="198767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928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Measurable Targets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0" y="23774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broad goals into specific, quantifiable targets that project teams could track and act 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16" name="Image 2" descr="/home/claude/work/icons/rout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418223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873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Rail Infrastructure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5720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unique operational challenges of large-scale rail infrastructure projects before defining metrics.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7947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069080"/>
            <a:ext cx="502920" cy="50292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21" name="Image 3" descr="/home/claude/work/icons/pe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837" y="418223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873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Strategy &amp; Communication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83680" y="45720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Outlined a clear strategy for ongoing KPI monitoring, written up for stakeholder review.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Managing Project Dashboards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B0B2E"/>
          </a:solidFill>
          <a:ln/>
        </p:spPr>
      </p:sp>
      <p:pic>
        <p:nvPicPr>
          <p:cNvPr id="6" name="Image 0" descr="/home/claude/work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9876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Project 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provided Metroville rail project updates to identify the most relevant progress signals.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0B0B2E"/>
          </a:solidFill>
          <a:ln/>
        </p:spPr>
      </p:sp>
      <p:pic>
        <p:nvPicPr>
          <p:cNvPr id="11" name="Image 1" descr="/home/claude/work/icons/clip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837" y="198767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928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Progress &amp; Challenges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0" y="23774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complex updates into concise summaries covering both wins and outstanding risks.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0B0B2E"/>
          </a:solidFill>
          <a:ln/>
        </p:spPr>
      </p:sp>
      <p:pic>
        <p:nvPicPr>
          <p:cNvPr id="16" name="Image 2" descr="/home/claude/work/icons/dashboar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418223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873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Presentation of Updates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5720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findings visually so stakeholders could scan progress at a glance.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7947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069080"/>
            <a:ext cx="502920" cy="502920"/>
          </a:xfrm>
          <a:prstGeom prst="ellipse">
            <a:avLst/>
          </a:prstGeom>
          <a:solidFill>
            <a:srgbClr val="0B0B2E"/>
          </a:solidFill>
          <a:ln/>
        </p:spPr>
      </p:sp>
      <p:pic>
        <p:nvPicPr>
          <p:cNvPr id="21" name="Image 3" descr="/home/claude/work/icons/handshak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837" y="418223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873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Communication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83680" y="45720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the dashboard supported clear, effective communication across the project team.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Demonstrated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6" name="Image 0" descr="/home/claude/work/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18859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4592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 Design: Built measurable indicators spanning safety, efficiency, and sustainability for a rail expansion project.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670048"/>
            <a:ext cx="457200" cy="45720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10" name="Image 1" descr="/home/claude/work/icons/dash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" y="277291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532888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Stakeholder-Ready Reporting: Converted raw project data into a concise, visual dashboard for clear communication.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41985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808" y="3557016"/>
            <a:ext cx="457200" cy="45720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14" name="Image 2" descr="/home/claude/work/icons/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" y="3659886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419856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&amp; Critical Thinking: Practiced structured problem-solving under a real-world rail-infrastructure scenario.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30682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443984"/>
            <a:ext cx="457200" cy="45720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18" name="Image 3" descr="/home/claude/work/icons/pe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4546854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306824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Communication: Strengthened written communication by translating technical progress into business insight.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519379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5330952"/>
            <a:ext cx="457200" cy="45720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22" name="Image 4" descr="/home/claude/work/icons/rout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" y="5433822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5193792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Exposure: Gained first-hand insight into how Siemens Mobility approaches large-scale infrastructure delivery.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Official Verification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solidFill>
            <a:srgbClr val="0B0B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2044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Metric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74336" y="1600200"/>
            <a:ext cx="64172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Record / Credential Details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42044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Simulation Title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74336" y="2103120"/>
            <a:ext cx="64172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F4F6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42032"/>
            <a:ext cx="42044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Platform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74336" y="2542032"/>
            <a:ext cx="64172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Virtual Experience Program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80944"/>
            <a:ext cx="42044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Sponsoring Organization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74336" y="2980944"/>
            <a:ext cx="64172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F4F6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19856"/>
            <a:ext cx="42044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Certified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74336" y="3419856"/>
            <a:ext cx="64172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KPIs · Managing Project Dashboards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58768"/>
            <a:ext cx="42044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Period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74336" y="3858768"/>
            <a:ext cx="64172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11064240" cy="438912"/>
          </a:xfrm>
          <a:prstGeom prst="rect">
            <a:avLst/>
          </a:prstGeom>
          <a:solidFill>
            <a:srgbClr val="F4F6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97680"/>
            <a:ext cx="42044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74336" y="4297680"/>
            <a:ext cx="64172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20, 2026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736592"/>
            <a:ext cx="11064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36592"/>
            <a:ext cx="42044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Verification Code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74336" y="4736592"/>
            <a:ext cx="64172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6aafb3048b93e7892af2b310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75504"/>
            <a:ext cx="11064240" cy="438912"/>
          </a:xfrm>
          <a:prstGeom prst="rect">
            <a:avLst/>
          </a:prstGeom>
          <a:solidFill>
            <a:srgbClr val="F4F6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175504"/>
            <a:ext cx="42044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Verification Code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74336" y="5175504"/>
            <a:ext cx="64172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6aafb2748b93e7892af29e08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614416"/>
            <a:ext cx="11064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614416"/>
            <a:ext cx="42044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By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74336" y="5614416"/>
            <a:ext cx="64172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Brunskill, Co-Founder of Forage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— Project Manager Job Simulation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37080" y="987552"/>
            <a:ext cx="7717536" cy="5522976"/>
          </a:xfrm>
          <a:prstGeom prst="roundRect">
            <a:avLst>
              <a:gd name="adj" fmla="val 9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/home/claude/work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6808" y="1097280"/>
            <a:ext cx="74980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43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3840480" cy="3840480"/>
          </a:xfrm>
          <a:prstGeom prst="ellipse">
            <a:avLst/>
          </a:prstGeom>
          <a:solidFill>
            <a:srgbClr val="01757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547208" y="3246120"/>
            <a:ext cx="1097280" cy="27432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6" name="Shape 4"/>
          <p:cNvSpPr/>
          <p:nvPr/>
        </p:nvSpPr>
        <p:spPr>
          <a:xfrm>
            <a:off x="2346808" y="3611880"/>
            <a:ext cx="7498080" cy="1417320"/>
          </a:xfrm>
          <a:prstGeom prst="roundRect">
            <a:avLst>
              <a:gd name="adj" fmla="val 5161"/>
            </a:avLst>
          </a:prstGeom>
          <a:solidFill>
            <a:srgbClr val="14143C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12568" y="3959352"/>
            <a:ext cx="502920" cy="502920"/>
          </a:xfrm>
          <a:prstGeom prst="ellipse">
            <a:avLst/>
          </a:prstGeom>
          <a:solidFill>
            <a:srgbClr val="009999"/>
          </a:solidFill>
          <a:ln/>
        </p:spPr>
      </p:sp>
      <p:pic>
        <p:nvPicPr>
          <p:cNvPr id="8" name="Image 0" descr="/home/claude/work/icons/us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725" y="4072509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98368" y="3904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98368" y="4233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&amp; Engineering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98368" y="4507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25SCS1003004134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95848" y="3840480"/>
            <a:ext cx="9144" cy="960120"/>
          </a:xfrm>
          <a:prstGeom prst="rect">
            <a:avLst/>
          </a:prstGeom>
          <a:solidFill>
            <a:srgbClr val="2A2A55"/>
          </a:solidFill>
          <a:ln/>
        </p:spPr>
      </p:sp>
      <p:sp>
        <p:nvSpPr>
          <p:cNvPr id="13" name="Shape 10"/>
          <p:cNvSpPr/>
          <p:nvPr/>
        </p:nvSpPr>
        <p:spPr>
          <a:xfrm>
            <a:off x="6415888" y="39593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work/iilm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184" y="4009644"/>
            <a:ext cx="338328" cy="3621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01688" y="3904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01688" y="4233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101688" y="4507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Mobility Job Simulation,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2026-09-20T12:49:28Z</dcterms:created>
  <dcterms:modified xsi:type="dcterms:W3CDTF">2026-09-20T12:49:28Z</dcterms:modified>
</cp:coreProperties>
</file>